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26" y="6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7C0C1-B992-4935-B7F9-BDEDF93905E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92619-732D-4F1A-BBAA-18DAFA994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92619-732D-4F1A-BBAA-18DAFA994A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4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E1D30"/>
                </a:solidFill>
              </a:defRPr>
            </a:pPr>
            <a:r>
              <a:rPr dirty="0"/>
              <a:t>Boutique Inventory &amp; Warehouse Management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30348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rPr lang="en-US" dirty="0"/>
              <a:t>E</a:t>
            </a:r>
            <a:r>
              <a:rPr dirty="0" smtClean="0"/>
              <a:t>xplanation </a:t>
            </a:r>
            <a:r>
              <a:rPr dirty="0"/>
              <a:t>of the final solution </a:t>
            </a:r>
            <a:r>
              <a:rPr dirty="0" smtClean="0"/>
              <a:t>+</a:t>
            </a:r>
            <a:r>
              <a:rPr lang="en-US" dirty="0" smtClean="0"/>
              <a:t> </a:t>
            </a:r>
            <a:r>
              <a:rPr dirty="0" smtClean="0"/>
              <a:t>code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463040" y="1691640"/>
            <a:ext cx="2834640" cy="1005840"/>
          </a:xfrm>
          <a:prstGeom prst="roundRect">
            <a:avLst/>
          </a:prstGeom>
          <a:solidFill>
            <a:srgbClr val="EE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7632" y="1819656"/>
            <a:ext cx="25054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E1D30"/>
                </a:solidFill>
              </a:defRPr>
            </a:pPr>
            <a:r>
              <a:t>C# / ASP.NET Core Web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2560320" cy="1005840"/>
          </a:xfrm>
          <a:prstGeom prst="roundRect">
            <a:avLst/>
          </a:prstGeom>
          <a:solidFill>
            <a:srgbClr val="E8E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819656"/>
            <a:ext cx="223113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E1D30"/>
                </a:solidFill>
              </a:defRPr>
            </a:pPr>
            <a:r>
              <a:t>SQL Server + Stored Procedures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91640"/>
            <a:ext cx="2103120" cy="1005840"/>
          </a:xfrm>
          <a:prstGeom prst="roundRect">
            <a:avLst/>
          </a:prstGeom>
          <a:solidFill>
            <a:srgbClr val="E2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9792" y="1819656"/>
            <a:ext cx="177393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E1D30"/>
                </a:solidFill>
              </a:defRPr>
            </a:pPr>
            <a:r>
              <a:t>Swagger + Postman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691640"/>
            <a:ext cx="1645920" cy="1005840"/>
          </a:xfrm>
          <a:prstGeom prst="roundRect">
            <a:avLst/>
          </a:prstGeom>
          <a:solidFill>
            <a:srgbClr val="E4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11512" y="1819656"/>
            <a:ext cx="131673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E1D30"/>
                </a:solidFill>
              </a:defRPr>
            </a:pPr>
            <a:r>
              <a:t>Dashboard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063240"/>
            <a:ext cx="9966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45920" y="3227832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dirty="0" smtClean="0"/>
              <a:t>In simple words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673352" y="3657600"/>
            <a:ext cx="9464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9262A"/>
                </a:solidFill>
              </a:defRPr>
            </a:pPr>
            <a:r>
              <a:rPr dirty="0"/>
              <a:t>• The project is like a digital notebook for a boutique owner.</a:t>
            </a:r>
          </a:p>
          <a:p>
            <a:pPr>
              <a:spcAft>
                <a:spcPts val="700"/>
              </a:spcAft>
              <a:defRPr sz="1700">
                <a:solidFill>
                  <a:srgbClr val="29262A"/>
                </a:solidFill>
              </a:defRPr>
            </a:pPr>
            <a:r>
              <a:rPr dirty="0"/>
              <a:t>• It remembers every product, where it is stored, what category it belongs to, and when it expires.</a:t>
            </a:r>
          </a:p>
          <a:p>
            <a:pPr>
              <a:spcAft>
                <a:spcPts val="700"/>
              </a:spcAft>
              <a:defRPr sz="1700">
                <a:solidFill>
                  <a:srgbClr val="29262A"/>
                </a:solidFill>
              </a:defRPr>
            </a:pPr>
            <a:r>
              <a:rPr dirty="0"/>
              <a:t>• The API is the middle helper that talks between the web page, Swagger/Postman, and the SQL Server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1. The 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Why this system is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63040"/>
            <a:ext cx="4754880" cy="429768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595" y="6235445"/>
            <a:ext cx="8309377" cy="46556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Rounded Rectangle 16"/>
          <p:cNvSpPr/>
          <p:nvPr/>
        </p:nvSpPr>
        <p:spPr>
          <a:xfrm>
            <a:off x="6609669" y="1367028"/>
            <a:ext cx="5267139" cy="4393692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60245" y="6604877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rPr dirty="0"/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2. How the System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51114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rPr dirty="0"/>
              <a:t>The complete request journey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4749" y="2880378"/>
            <a:ext cx="9942163" cy="1029947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8555" y="2926676"/>
            <a:ext cx="94818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dirty="0"/>
              <a:t>Example: adding a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2358" y="3245794"/>
            <a:ext cx="94358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9262A"/>
                </a:solidFill>
              </a:defRPr>
            </a:pPr>
            <a:r>
              <a:rPr dirty="0"/>
              <a:t>• The user sends product data. The </a:t>
            </a:r>
            <a:r>
              <a:rPr dirty="0" err="1"/>
              <a:t>ProductsController</a:t>
            </a:r>
            <a:r>
              <a:rPr dirty="0"/>
              <a:t> receives it. The </a:t>
            </a:r>
            <a:r>
              <a:rPr dirty="0" err="1"/>
              <a:t>StoredProcedureService</a:t>
            </a:r>
            <a:r>
              <a:rPr dirty="0"/>
              <a:t> calls </a:t>
            </a:r>
            <a:r>
              <a:rPr dirty="0" err="1"/>
              <a:t>sp_InsertProduct</a:t>
            </a:r>
            <a:r>
              <a:rPr dirty="0"/>
              <a:t>. SQL Server saves the product and returns the new </a:t>
            </a:r>
            <a:r>
              <a:rPr dirty="0" err="1"/>
              <a:t>ProductId</a:t>
            </a:r>
            <a:r>
              <a:rPr dirty="0"/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  <p:sp>
        <p:nvSpPr>
          <p:cNvPr id="26" name="Rounded Rectangle 25"/>
          <p:cNvSpPr/>
          <p:nvPr/>
        </p:nvSpPr>
        <p:spPr>
          <a:xfrm>
            <a:off x="1354749" y="1116699"/>
            <a:ext cx="9875520" cy="167262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337898" y="3956624"/>
            <a:ext cx="9909222" cy="2648254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6228311" y="3830569"/>
            <a:ext cx="218209" cy="37774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6355080" y="1417320"/>
            <a:ext cx="5212080" cy="468172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3.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What each folder is responsible 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480560" cy="461772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4. Program.cs — Starting the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This file wires the whole project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480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t>What this code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449244"/>
            <a:ext cx="4462272" cy="204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dirty="0" err="1"/>
              <a:t>AddControllers</a:t>
            </a:r>
            <a:r>
              <a:rPr dirty="0"/>
              <a:t> enables API controllers.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dirty="0" err="1"/>
              <a:t>IgnoreCycles</a:t>
            </a:r>
            <a:r>
              <a:rPr dirty="0"/>
              <a:t> prevents JSON loops such as </a:t>
            </a:r>
            <a:endParaRPr lang="en-US" dirty="0" smtClean="0"/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lang="en-US" dirty="0"/>
              <a:t>	</a:t>
            </a:r>
            <a:r>
              <a:rPr dirty="0" smtClean="0"/>
              <a:t>Product </a:t>
            </a:r>
            <a:r>
              <a:rPr dirty="0"/>
              <a:t>→ Warehouse → Products.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dirty="0" err="1"/>
              <a:t>UseSqlServer</a:t>
            </a:r>
            <a:r>
              <a:rPr dirty="0"/>
              <a:t> connects the API to SQL Server using </a:t>
            </a:r>
            <a:r>
              <a:rPr lang="en-US" dirty="0" smtClean="0"/>
              <a:t>	</a:t>
            </a:r>
            <a:r>
              <a:rPr dirty="0" err="1" smtClean="0"/>
              <a:t>appsettings.json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Services are registered so controllers can use them.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Swagger and static dashboard files are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417320"/>
            <a:ext cx="5870448" cy="4626864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2654" y="1924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5. Product Model — What a Product 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Product class becomes the Products table in SQL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480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842516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dirty="0"/>
              <a:t>Fields explained simply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74044"/>
            <a:ext cx="3977640" cy="2480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b="1" dirty="0"/>
              <a:t>Name</a:t>
            </a:r>
            <a:r>
              <a:rPr dirty="0"/>
              <a:t>: product name, for example Luxury Perfume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</a:t>
            </a:r>
            <a:r>
              <a:rPr b="1" dirty="0"/>
              <a:t> Type and Size</a:t>
            </a:r>
            <a:r>
              <a:rPr dirty="0"/>
              <a:t>: basic product attributes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b="1" dirty="0" err="1"/>
              <a:t>ExpirationDate</a:t>
            </a:r>
            <a:r>
              <a:rPr dirty="0"/>
              <a:t>:</a:t>
            </a:r>
            <a:r>
              <a:rPr b="1" dirty="0"/>
              <a:t> </a:t>
            </a:r>
            <a:r>
              <a:rPr dirty="0"/>
              <a:t>used for expiring-soon alerts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b="1" dirty="0" err="1"/>
              <a:t>ImagePath</a:t>
            </a:r>
            <a:r>
              <a:rPr dirty="0"/>
              <a:t>:</a:t>
            </a:r>
            <a:r>
              <a:rPr b="1" dirty="0"/>
              <a:t> </a:t>
            </a:r>
            <a:r>
              <a:rPr dirty="0"/>
              <a:t>stores image metadata or image file path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b="1" dirty="0" err="1"/>
              <a:t>WarehouseId</a:t>
            </a:r>
            <a:r>
              <a:rPr dirty="0"/>
              <a:t>: tells which warehouse owns the product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dirty="0"/>
              <a:t>• </a:t>
            </a:r>
            <a:r>
              <a:rPr b="1" dirty="0" err="1"/>
              <a:t>ShelfLocation</a:t>
            </a:r>
            <a:r>
              <a:rPr dirty="0"/>
              <a:t>: tells where inside the warehouse it is stored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34440"/>
            <a:ext cx="539496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8974" y="1824026"/>
            <a:ext cx="5346746" cy="329184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3056" y="1874105"/>
            <a:ext cx="15979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Models/</a:t>
            </a:r>
            <a:r>
              <a:rPr sz="1400" dirty="0" err="1"/>
              <a:t>Product.cs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27648" y="2404041"/>
            <a:ext cx="4910328" cy="2146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public class Product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93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Id { get; set; }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string Name { get; set; } =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string.Empty</a:t>
            </a:r>
            <a:r>
              <a:rPr sz="930" dirty="0">
                <a:solidFill>
                  <a:srgbClr val="7EF5B1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string Type { get; set; } =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string.Empty</a:t>
            </a:r>
            <a:r>
              <a:rPr sz="930" dirty="0">
                <a:solidFill>
                  <a:srgbClr val="7EF5B1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string? Size { get; set; }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DateTime</a:t>
            </a:r>
            <a:r>
              <a:rPr sz="930" dirty="0">
                <a:solidFill>
                  <a:srgbClr val="7EF5B1"/>
                </a:solidFill>
                <a:latin typeface="Consolas"/>
              </a:rPr>
              <a:t>?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ExpirationDate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{ get; set; }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string?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ImagePath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{ get; set; }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 9  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WarehouseId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{ get; set; }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Warehouse? Warehouse { get; set; }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12  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string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ShelfLocation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{ get; set; } =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string.Empty</a:t>
            </a:r>
            <a:r>
              <a:rPr sz="930" dirty="0">
                <a:solidFill>
                  <a:srgbClr val="7EF5B1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 public List&lt;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ProductCategory</a:t>
            </a:r>
            <a:r>
              <a:rPr sz="930" dirty="0">
                <a:solidFill>
                  <a:srgbClr val="7EF5B1"/>
                </a:solidFill>
                <a:latin typeface="Consolas"/>
              </a:rPr>
              <a:t>&gt; </a:t>
            </a:r>
            <a:r>
              <a:rPr sz="930" dirty="0" err="1">
                <a:solidFill>
                  <a:srgbClr val="7EF5B1"/>
                </a:solidFill>
                <a:latin typeface="Consolas"/>
              </a:rPr>
              <a:t>ProductCategories</a:t>
            </a:r>
            <a:r>
              <a:rPr sz="930" dirty="0">
                <a:solidFill>
                  <a:srgbClr val="7EF5B1"/>
                </a:solidFill>
                <a:latin typeface="Consolas"/>
              </a:rPr>
              <a:t> { get; set; } = new();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15  </a:t>
            </a:r>
            <a:r>
              <a:rPr sz="93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6. Database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How products, categories, and warehouses connect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4584" y="1335024"/>
            <a:ext cx="4928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t>Relationship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959" y="2069768"/>
            <a:ext cx="4951712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400" dirty="0"/>
              <a:t>• One warehouse can contain many products.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400" dirty="0"/>
              <a:t>• One product can have multiple categories.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400" dirty="0"/>
              <a:t>• One category can be assigned to many products.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ProductCategories</a:t>
            </a:r>
            <a:r>
              <a:rPr sz="1400" dirty="0"/>
              <a:t> is the middle table for product-category links.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400" dirty="0"/>
              <a:t>• This is important because </a:t>
            </a:r>
            <a:r>
              <a:rPr sz="1400" dirty="0" smtClean="0"/>
              <a:t>one </a:t>
            </a:r>
            <a:r>
              <a:rPr sz="1400" dirty="0"/>
              <a:t>item may be </a:t>
            </a:r>
            <a:r>
              <a:rPr sz="1400" dirty="0" smtClean="0"/>
              <a:t>both</a:t>
            </a:r>
            <a:r>
              <a:rPr lang="en-US" sz="1400" dirty="0" smtClean="0"/>
              <a:t>  </a:t>
            </a:r>
            <a:r>
              <a:rPr sz="1400" dirty="0" smtClean="0"/>
              <a:t>Perfume </a:t>
            </a:r>
            <a:r>
              <a:rPr sz="1400" dirty="0"/>
              <a:t>and Gift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6727" y="1335024"/>
            <a:ext cx="5440680" cy="4764024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07679" y="1604318"/>
            <a:ext cx="5129784" cy="281151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90931" y="1549908"/>
            <a:ext cx="22761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Data/</a:t>
            </a:r>
            <a:r>
              <a:rPr sz="1400" dirty="0" err="1"/>
              <a:t>BoutiqueDbContext.cs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208776" y="1989246"/>
            <a:ext cx="5358384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modelBuilder.Entity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&lt;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ProductCategory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&gt;()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HasKey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(pc =&gt; new {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pc.ProductId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pc.CategoryId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});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3 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modelBuilder.Entity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&lt;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ProductCategory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&gt;()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HasOne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(pc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pc.Product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WithMany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p.ProductCategories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HasForeignKey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(pc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pc.ProductId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8  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modelBuilder.Entity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&lt;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ProductCategory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&gt;()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HasOne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(pc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pc.Category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WithMany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(c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c.ProductCategories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00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HasForeignKey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(pc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pc.CategoryId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25" y="3888579"/>
            <a:ext cx="6771215" cy="2607713"/>
          </a:xfrm>
          <a:prstGeom prst="roundRect">
            <a:avLst>
              <a:gd name="adj" fmla="val 16667"/>
            </a:avLst>
          </a:prstGeom>
          <a:ln w="9525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7. SQL Server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database is created using SQL tables and Stored 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389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19214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Why SQL script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7340" y="2542643"/>
            <a:ext cx="388620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2000" dirty="0"/>
              <a:t>• It creates the database tables.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2000" dirty="0"/>
              <a:t>• It defines foreign keys, so invalid warehouse links are prevented.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2000" dirty="0"/>
              <a:t>• It creates Stored Procedures for insert and update.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2000" dirty="0"/>
              <a:t>• It inserts starter sample data for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89320" y="1640517"/>
            <a:ext cx="5248656" cy="290114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1704525"/>
            <a:ext cx="49450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SQL/01_CreateTables_And_StoredProcedures.sql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436461"/>
            <a:ext cx="4830110" cy="2728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400" dirty="0">
                <a:solidFill>
                  <a:srgbClr val="FFBD70"/>
                </a:solidFill>
                <a:latin typeface="Consolas"/>
              </a:rPr>
              <a:t>CREATE TABLE </a:t>
            </a:r>
            <a:r>
              <a:rPr sz="1400" dirty="0" err="1">
                <a:solidFill>
                  <a:srgbClr val="FFBD70"/>
                </a:solidFill>
                <a:latin typeface="Consolas"/>
              </a:rPr>
              <a:t>dbo.Products</a:t>
            </a:r>
            <a:r>
              <a:rPr sz="1400" dirty="0">
                <a:solidFill>
                  <a:srgbClr val="FFBD70"/>
                </a:solidFill>
                <a:latin typeface="Consolas"/>
              </a:rPr>
              <a:t>(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Id INT IDENTITY(1,1) PRIMARY KEY,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Name NVARCHAR(100) NOT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Type NVARCHAR(100) NOT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Size NVARCHAR(50)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ExpirationDate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DATETIME2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ImagePath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NVARCHAR(300)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INT NOT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ShelfLocation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NVARCHAR(100) NOT NULL,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CONSTRAINT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FK_Products_Warehouses</a:t>
            </a:r>
            <a:endParaRPr sz="1400" dirty="0">
              <a:solidFill>
                <a:srgbClr val="EBEBF0"/>
              </a:solidFill>
              <a:latin typeface="Consolas"/>
            </a:endParaRP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 FOREIGN KEY(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140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  REFERENCES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dbo.Warehouses</a:t>
            </a:r>
            <a:r>
              <a:rPr sz="1400" dirty="0">
                <a:solidFill>
                  <a:srgbClr val="EBEBF0"/>
                </a:solidFill>
                <a:latin typeface="Consolas"/>
              </a:rPr>
              <a:t>(Id)</a:t>
            </a:r>
          </a:p>
          <a:p>
            <a:pPr>
              <a:spcAft>
                <a:spcPts val="0"/>
              </a:spcAft>
              <a:defRPr sz="930">
                <a:latin typeface="Consolas"/>
              </a:defRPr>
            </a:pPr>
            <a:r>
              <a:rPr sz="93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930" dirty="0">
                <a:solidFill>
                  <a:srgbClr val="EBEBF0"/>
                </a:solidFill>
                <a:latin typeface="Consolas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8. Stored Procedure: Insert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This is where SQL Server saves a new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79" y="1257300"/>
            <a:ext cx="4771625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687068"/>
            <a:ext cx="16461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What happens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2853" y="2337115"/>
            <a:ext cx="4774651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70">
                <a:solidFill>
                  <a:srgbClr val="29262A"/>
                </a:solidFill>
              </a:defRPr>
            </a:pPr>
            <a:r>
              <a:rPr sz="2000" dirty="0"/>
              <a:t>• The procedure first checks if the selected warehouse exists and is active.</a:t>
            </a:r>
          </a:p>
          <a:p>
            <a:pPr>
              <a:spcAft>
                <a:spcPts val="700"/>
              </a:spcAft>
              <a:defRPr sz="1370">
                <a:solidFill>
                  <a:srgbClr val="29262A"/>
                </a:solidFill>
              </a:defRPr>
            </a:pPr>
            <a:r>
              <a:rPr sz="2000" dirty="0"/>
              <a:t>• Then it inserts the product into Products.</a:t>
            </a:r>
          </a:p>
          <a:p>
            <a:pPr>
              <a:spcAft>
                <a:spcPts val="700"/>
              </a:spcAft>
              <a:defRPr sz="1370">
                <a:solidFill>
                  <a:srgbClr val="29262A"/>
                </a:solidFill>
              </a:defRPr>
            </a:pPr>
            <a:r>
              <a:rPr sz="2000" dirty="0"/>
              <a:t>• SCOPE_IDENTITY() returns the new </a:t>
            </a:r>
            <a:r>
              <a:rPr sz="2000" dirty="0" err="1"/>
              <a:t>ProductId</a:t>
            </a:r>
            <a:r>
              <a:rPr sz="2000" dirty="0"/>
              <a:t>.</a:t>
            </a:r>
          </a:p>
          <a:p>
            <a:pPr>
              <a:spcAft>
                <a:spcPts val="700"/>
              </a:spcAft>
              <a:defRPr sz="1370">
                <a:solidFill>
                  <a:srgbClr val="29262A"/>
                </a:solidFill>
              </a:defRPr>
            </a:pPr>
            <a:r>
              <a:rPr sz="2000" dirty="0"/>
              <a:t>• Category IDs are split from a comma-separated list and inserted into </a:t>
            </a:r>
            <a:r>
              <a:rPr sz="2000" dirty="0" err="1"/>
              <a:t>ProductCategories</a:t>
            </a:r>
            <a:r>
              <a:rPr sz="20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5730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32220" y="1709408"/>
            <a:ext cx="5303520" cy="236081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53091"/>
            <a:ext cx="20751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Stored Procedure snippet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1823" y="1907355"/>
            <a:ext cx="4847865" cy="3822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869" dirty="0">
                <a:solidFill>
                  <a:srgbClr val="878791"/>
                </a:solidFill>
                <a:latin typeface="Consolas"/>
              </a:rPr>
              <a:t> </a:t>
            </a:r>
            <a:endParaRPr lang="en-US" sz="869" dirty="0" smtClean="0">
              <a:solidFill>
                <a:srgbClr val="878791"/>
              </a:solidFill>
              <a:latin typeface="Consolas"/>
            </a:endParaRP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endParaRPr lang="en-US" sz="869" dirty="0">
              <a:solidFill>
                <a:srgbClr val="878791"/>
              </a:solidFill>
              <a:latin typeface="Consolas"/>
            </a:endParaRP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endParaRPr lang="en-US" sz="1050" dirty="0" smtClean="0">
              <a:solidFill>
                <a:srgbClr val="878791"/>
              </a:solidFill>
              <a:latin typeface="Consolas"/>
            </a:endParaRP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lang="en-US" sz="1050" dirty="0">
                <a:solidFill>
                  <a:srgbClr val="878791"/>
                </a:solidFill>
                <a:latin typeface="Consolas"/>
              </a:rPr>
              <a:t> </a:t>
            </a:r>
            <a:r>
              <a:rPr sz="1050" dirty="0" smtClean="0">
                <a:solidFill>
                  <a:srgbClr val="878791"/>
                </a:solidFill>
                <a:latin typeface="Consolas"/>
              </a:rPr>
              <a:t>1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CREATE OR ALTER PROCEDURE </a:t>
            </a:r>
            <a:r>
              <a:rPr sz="1050" dirty="0" err="1">
                <a:solidFill>
                  <a:srgbClr val="FFBD70"/>
                </a:solidFill>
                <a:latin typeface="Consolas"/>
              </a:rPr>
              <a:t>dbo.sp_InsertProduct</a:t>
            </a:r>
            <a:endParaRPr sz="1050" dirty="0">
              <a:solidFill>
                <a:srgbClr val="FFBD70"/>
              </a:solidFill>
              <a:latin typeface="Consolas"/>
            </a:endParaRP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@Name NVARCHAR(100),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@Type NVARCHAR(100),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@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INT,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@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CategoryIds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NVARCHAR(MAX)=NULL,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@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NewId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INT OUTPUT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AS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BEGIN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IF NOT EXISTS(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   SELECT 1 FROM </a:t>
            </a:r>
            <a:r>
              <a:rPr sz="1050" dirty="0" err="1">
                <a:solidFill>
                  <a:srgbClr val="FFBD70"/>
                </a:solidFill>
                <a:latin typeface="Consolas"/>
              </a:rPr>
              <a:t>dbo.Warehouses</a:t>
            </a:r>
            <a:endParaRPr sz="1050" dirty="0">
              <a:solidFill>
                <a:srgbClr val="FFBD70"/>
              </a:solidFill>
              <a:latin typeface="Consolas"/>
            </a:endParaRP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   WHERE Id=@</a:t>
            </a:r>
            <a:r>
              <a:rPr sz="1050" dirty="0" err="1">
                <a:solidFill>
                  <a:srgbClr val="FFBD70"/>
                </a:solidFill>
                <a:latin typeface="Consolas"/>
              </a:rPr>
              <a:t>WarehouseId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 AND </a:t>
            </a:r>
            <a:r>
              <a:rPr sz="1050" dirty="0" err="1">
                <a:solidFill>
                  <a:srgbClr val="FFBD70"/>
                </a:solidFill>
                <a:latin typeface="Consolas"/>
              </a:rPr>
              <a:t>IsActive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=1)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 BEGIN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  RAISERROR('Warehouse does not exist or is inactive.',16,1);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  RETURN;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15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 END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16  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17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 INSERT INTO </a:t>
            </a:r>
            <a:r>
              <a:rPr sz="1050" dirty="0" err="1">
                <a:solidFill>
                  <a:srgbClr val="FFBD70"/>
                </a:solidFill>
                <a:latin typeface="Consolas"/>
              </a:rPr>
              <a:t>dbo.Products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FFBD70"/>
                </a:solidFill>
                <a:latin typeface="Consolas"/>
              </a:rPr>
              <a:t>Name,Type,WarehouseId,ShelfLocation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18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VALUES(@Name,@Type,@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,@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ShelfLocation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19  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20  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SET @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NewId</a:t>
            </a:r>
            <a:r>
              <a:rPr sz="1050" dirty="0">
                <a:solidFill>
                  <a:srgbClr val="EBEBF0"/>
                </a:solidFill>
                <a:latin typeface="Consolas"/>
              </a:rPr>
              <a:t> = SCOPE_IDENTITY();</a:t>
            </a:r>
          </a:p>
          <a:p>
            <a:pPr>
              <a:spcAft>
                <a:spcPts val="0"/>
              </a:spcAft>
              <a:defRPr sz="869">
                <a:latin typeface="Consolas"/>
              </a:defRPr>
            </a:pPr>
            <a:r>
              <a:rPr sz="1050" dirty="0">
                <a:solidFill>
                  <a:srgbClr val="878791"/>
                </a:solidFill>
                <a:latin typeface="Consolas"/>
              </a:rPr>
              <a:t>21  </a:t>
            </a:r>
            <a:r>
              <a:rPr sz="1050" dirty="0">
                <a:solidFill>
                  <a:srgbClr val="FFBD70"/>
                </a:solidFill>
                <a:latin typeface="Consolas"/>
              </a:rPr>
              <a:t>END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rPr dirty="0"/>
              <a:t>9. C# Service Calls the </a:t>
            </a:r>
            <a:r>
              <a:rPr lang="en-US" dirty="0" err="1" smtClean="0"/>
              <a:t>sql</a:t>
            </a:r>
            <a:r>
              <a:rPr lang="en-US" dirty="0" smtClean="0"/>
              <a:t> </a:t>
            </a:r>
            <a:r>
              <a:rPr dirty="0" smtClean="0"/>
              <a:t>Stored </a:t>
            </a:r>
            <a:r>
              <a:rPr dirty="0"/>
              <a:t>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895696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API does not insert directly; it calls SQL Server SPs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7032" y="1243168"/>
            <a:ext cx="4598625" cy="4974752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654464"/>
            <a:ext cx="20631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Why this is a good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9734" y="2406535"/>
            <a:ext cx="4103825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Controllers stay cleaner because SQL execution is inside a service.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Parameters are passed safely using </a:t>
            </a:r>
            <a:r>
              <a:rPr sz="1600" dirty="0" err="1"/>
              <a:t>SqlParameter</a:t>
            </a:r>
            <a:r>
              <a:rPr sz="1600" dirty="0"/>
              <a:t>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The database returns the new ID through an output parameter.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The same service can be reused by different controllers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14993" y="1621410"/>
            <a:ext cx="5303520" cy="295969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9585" y="1685418"/>
            <a:ext cx="49967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Services/</a:t>
            </a:r>
            <a:r>
              <a:rPr sz="1400" dirty="0" err="1"/>
              <a:t>StoredProcedureService.cs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009367" y="2140907"/>
            <a:ext cx="5309146" cy="3216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public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Task&lt;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&gt;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InsertProductAsync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ProductCreateDto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newId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= new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SqlParameter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("@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NewId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",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SqlDbType.Int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{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  Direction = 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ParameterDirection.Output</a:t>
            </a:r>
            <a:endParaRPr sz="1100" dirty="0">
              <a:solidFill>
                <a:srgbClr val="EBEBF0"/>
              </a:solidFill>
              <a:latin typeface="Consolas"/>
            </a:endParaRP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};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7  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categoryIds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string.Join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(",",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dto.CategoryIds.Distinct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());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9  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await _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context.Database.ExecuteSqlRawAsync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100" dirty="0">
                <a:solidFill>
                  <a:srgbClr val="FFBD70"/>
                </a:solidFill>
                <a:latin typeface="Consolas"/>
              </a:rPr>
              <a:t>    "EXEC </a:t>
            </a:r>
            <a:r>
              <a:rPr sz="1100" dirty="0" err="1">
                <a:solidFill>
                  <a:srgbClr val="FFBD70"/>
                </a:solidFill>
                <a:latin typeface="Consolas"/>
              </a:rPr>
              <a:t>dbo.sp_InsertProduct</a:t>
            </a:r>
            <a:r>
              <a:rPr sz="1100" dirty="0">
                <a:solidFill>
                  <a:srgbClr val="FFBD70"/>
                </a:solidFill>
                <a:latin typeface="Consolas"/>
              </a:rPr>
              <a:t> @Name, @Type, @Size, " +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  "@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ExpirationDate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, @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ImagePath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, @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, " +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  "@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ShelfLocation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, @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CategoryIds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, @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NewId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OUTPUT",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  new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SqlParameter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("@Name",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dto.Name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),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15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  new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SqlParameter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("@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WarehouseId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",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dto.WarehouseId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),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16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newId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17  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18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return 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newId.Value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19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10. ProductsController: Create and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controller receives requests from Swagger, Postman, or the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389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t>Simple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1620" y="2509851"/>
            <a:ext cx="388620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POST /</a:t>
            </a:r>
            <a:r>
              <a:rPr sz="1600" dirty="0" err="1"/>
              <a:t>api</a:t>
            </a:r>
            <a:r>
              <a:rPr sz="1600" dirty="0"/>
              <a:t>/products creates a new product.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PUT /</a:t>
            </a:r>
            <a:r>
              <a:rPr sz="1600" dirty="0" err="1"/>
              <a:t>api</a:t>
            </a:r>
            <a:r>
              <a:rPr sz="1600" dirty="0"/>
              <a:t>/products/{id} updates an existing product.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The controller does not directly write SQL.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It sends the DTO to </a:t>
            </a:r>
            <a:r>
              <a:rPr sz="1600" dirty="0" err="1"/>
              <a:t>StoredProcedureService</a:t>
            </a:r>
            <a:r>
              <a:rPr sz="1600" dirty="0"/>
              <a:t>, which calls the Stored Procedure.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989320" cy="484632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522488"/>
            <a:ext cx="5349240" cy="219444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5400" y="1434571"/>
            <a:ext cx="26671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Controllers/</a:t>
            </a:r>
            <a:r>
              <a:rPr sz="1400" dirty="0" err="1"/>
              <a:t>ProductsController.cs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0" y="1929812"/>
            <a:ext cx="5806440" cy="32316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</a:t>
            </a:r>
            <a:r>
              <a:rPr sz="1100" dirty="0">
                <a:solidFill>
                  <a:srgbClr val="878791"/>
                </a:solidFill>
                <a:latin typeface="Consolas"/>
              </a:rPr>
              <a:t>1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HttpPost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public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Task&lt;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IActionResult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&gt; Create(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ProductCreateDto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id = await _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spService.InsertProductAsync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5  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return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CreatedAtAction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nameof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GetById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), new { id }, new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{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  message = "Product created successfully.",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productId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= id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12  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BEBF0"/>
                </a:solidFill>
                <a:latin typeface="Consolas"/>
              </a:rPr>
              <a:t>HttpPut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("{id}")]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public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Task&lt;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IActionResult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&gt; Update(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id,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ProductUpdateDto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15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16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await _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spService.UpdateProductAsync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(id,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dto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17  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 return Ok(new { message = "Product updated successfully.", </a:t>
            </a:r>
            <a:r>
              <a:rPr sz="1100" dirty="0" err="1">
                <a:solidFill>
                  <a:srgbClr val="7EF5B1"/>
                </a:solidFill>
                <a:latin typeface="Consolas"/>
              </a:rPr>
              <a:t>productId</a:t>
            </a:r>
            <a:r>
              <a:rPr sz="1100" dirty="0">
                <a:solidFill>
                  <a:srgbClr val="7EF5B1"/>
                </a:solidFill>
                <a:latin typeface="Consolas"/>
              </a:rPr>
              <a:t> = id });</a:t>
            </a:r>
          </a:p>
          <a:p>
            <a:pPr>
              <a:spcAft>
                <a:spcPts val="0"/>
              </a:spcAft>
              <a:defRPr sz="880">
                <a:latin typeface="Consolas"/>
              </a:defRPr>
            </a:pPr>
            <a:r>
              <a:rPr sz="1100" dirty="0">
                <a:solidFill>
                  <a:srgbClr val="878791"/>
                </a:solidFill>
                <a:latin typeface="Consolas"/>
              </a:rPr>
              <a:t>18  </a:t>
            </a:r>
            <a:r>
              <a:rPr sz="110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11. Reading Products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GetAll endpoint returns clean data without JSON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389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dirty="0"/>
              <a:t>Why the projection is 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574" y="2313432"/>
            <a:ext cx="4222697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9262A"/>
                </a:solidFill>
              </a:defRPr>
            </a:pPr>
            <a:r>
              <a:rPr sz="1400" dirty="0"/>
              <a:t>• Earlier, returning full Product objects can cause an object cycle.</a:t>
            </a:r>
          </a:p>
          <a:p>
            <a:pPr>
              <a:spcAft>
                <a:spcPts val="700"/>
              </a:spcAft>
              <a:defRPr sz="1350">
                <a:solidFill>
                  <a:srgbClr val="29262A"/>
                </a:solidFill>
              </a:defRPr>
            </a:pPr>
            <a:r>
              <a:rPr sz="1400" dirty="0"/>
              <a:t>• Example cycle: </a:t>
            </a:r>
            <a:endParaRPr lang="en-US" sz="1400" dirty="0" smtClean="0"/>
          </a:p>
          <a:p>
            <a:pPr>
              <a:spcAft>
                <a:spcPts val="700"/>
              </a:spcAft>
              <a:defRPr sz="1350">
                <a:solidFill>
                  <a:srgbClr val="29262A"/>
                </a:solidFill>
              </a:defRPr>
            </a:pPr>
            <a:r>
              <a:rPr lang="en-US" sz="1400" dirty="0" smtClean="0"/>
              <a:t>   </a:t>
            </a:r>
            <a:r>
              <a:rPr sz="1400" dirty="0" smtClean="0"/>
              <a:t>Product </a:t>
            </a:r>
            <a:r>
              <a:rPr sz="1400" dirty="0"/>
              <a:t>→ Warehouse → Products → Warehouse.</a:t>
            </a:r>
          </a:p>
          <a:p>
            <a:pPr>
              <a:spcAft>
                <a:spcPts val="700"/>
              </a:spcAft>
              <a:defRPr sz="1350">
                <a:solidFill>
                  <a:srgbClr val="29262A"/>
                </a:solidFill>
              </a:defRPr>
            </a:pPr>
            <a:r>
              <a:rPr sz="1400" dirty="0"/>
              <a:t>• The fixed version selects only the fields needed for the response.</a:t>
            </a:r>
          </a:p>
          <a:p>
            <a:pPr>
              <a:spcAft>
                <a:spcPts val="700"/>
              </a:spcAft>
              <a:defRPr sz="1350">
                <a:solidFill>
                  <a:srgbClr val="29262A"/>
                </a:solidFill>
              </a:defRPr>
            </a:pPr>
            <a:r>
              <a:rPr sz="1400" dirty="0"/>
              <a:t>• This gives a cleaner JSON result for Swagger, Postman, and the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52098" y="1545336"/>
            <a:ext cx="5067590" cy="313805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2098" y="1545336"/>
            <a:ext cx="4774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GET /</a:t>
            </a:r>
            <a:r>
              <a:rPr sz="1400" dirty="0" err="1"/>
              <a:t>api</a:t>
            </a:r>
            <a:r>
              <a:rPr sz="1400" dirty="0"/>
              <a:t>/products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9401"/>
            <a:ext cx="5360442" cy="33855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[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HttpGet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public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async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Task&lt;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IActionResult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&gt;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GetAll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page = 1,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int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pageSize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= 10)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query = _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context.Products</a:t>
            </a:r>
            <a:endParaRPr sz="1000" dirty="0">
              <a:solidFill>
                <a:srgbClr val="7EF5B1"/>
              </a:solidFill>
              <a:latin typeface="Consolas"/>
            </a:endParaRP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.Include(p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p.Warehouse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AsQueryable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7  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total = await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query.CountAsync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9  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products = await query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OrderBy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p.Name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.Skip((page - 1) *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pageSize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.Take(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pageSize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  .Select(p =&gt; new {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15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p.Id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p.Name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p.Type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p.Size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16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WarehouseName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p.Warehouse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!= null ?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p.Warehouse.Name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: null,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17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p.ShelfLocation</a:t>
            </a:r>
            <a:endParaRPr sz="1000" dirty="0">
              <a:solidFill>
                <a:srgbClr val="EBEBF0"/>
              </a:solidFill>
              <a:latin typeface="Consolas"/>
            </a:endParaRP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18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19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ToListAsync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20  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21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return Ok(new { total, page,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pageSize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, products });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22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12. Search &amp;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owner can quickly find 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389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14235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Search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249424"/>
            <a:ext cx="438912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60">
                <a:solidFill>
                  <a:srgbClr val="29262A"/>
                </a:solidFill>
              </a:defRPr>
            </a:pPr>
            <a:r>
              <a:rPr sz="1600" dirty="0"/>
              <a:t>• Find all perfumes: /</a:t>
            </a:r>
            <a:r>
              <a:rPr sz="1600" dirty="0" err="1"/>
              <a:t>api</a:t>
            </a:r>
            <a:r>
              <a:rPr sz="1600" dirty="0"/>
              <a:t>/products/</a:t>
            </a:r>
            <a:r>
              <a:rPr sz="1600" dirty="0" err="1"/>
              <a:t>search?type</a:t>
            </a:r>
            <a:r>
              <a:rPr sz="1600" dirty="0"/>
              <a:t>=Perfume</a:t>
            </a:r>
          </a:p>
          <a:p>
            <a:pPr>
              <a:spcAft>
                <a:spcPts val="700"/>
              </a:spcAft>
              <a:defRPr sz="1360">
                <a:solidFill>
                  <a:srgbClr val="29262A"/>
                </a:solidFill>
              </a:defRPr>
            </a:pPr>
            <a:r>
              <a:rPr sz="1600" dirty="0"/>
              <a:t>• Find products in warehouse 1: ?</a:t>
            </a:r>
            <a:r>
              <a:rPr sz="1600" dirty="0" err="1"/>
              <a:t>warehouseId</a:t>
            </a:r>
            <a:r>
              <a:rPr sz="1600" dirty="0"/>
              <a:t>=1</a:t>
            </a:r>
          </a:p>
          <a:p>
            <a:pPr>
              <a:spcAft>
                <a:spcPts val="700"/>
              </a:spcAft>
              <a:defRPr sz="1360">
                <a:solidFill>
                  <a:srgbClr val="29262A"/>
                </a:solidFill>
              </a:defRPr>
            </a:pPr>
            <a:r>
              <a:rPr sz="1600" dirty="0"/>
              <a:t>• Find size M clothes: ?type=</a:t>
            </a:r>
            <a:r>
              <a:rPr sz="1600" dirty="0" err="1"/>
              <a:t>Clothes&amp;size</a:t>
            </a:r>
            <a:r>
              <a:rPr sz="1600" dirty="0"/>
              <a:t>=M</a:t>
            </a:r>
          </a:p>
          <a:p>
            <a:pPr>
              <a:spcAft>
                <a:spcPts val="700"/>
              </a:spcAft>
              <a:defRPr sz="1360">
                <a:solidFill>
                  <a:srgbClr val="29262A"/>
                </a:solidFill>
              </a:defRPr>
            </a:pPr>
            <a:r>
              <a:rPr sz="1600" dirty="0"/>
              <a:t>• Find image metadata: ?</a:t>
            </a:r>
            <a:r>
              <a:rPr sz="1600" dirty="0" err="1"/>
              <a:t>imagePath</a:t>
            </a:r>
            <a:r>
              <a:rPr sz="1600" dirty="0"/>
              <a:t>=perfume1</a:t>
            </a:r>
          </a:p>
          <a:p>
            <a:pPr>
              <a:spcAft>
                <a:spcPts val="700"/>
              </a:spcAft>
              <a:defRPr sz="1360">
                <a:solidFill>
                  <a:srgbClr val="29262A"/>
                </a:solidFill>
              </a:defRPr>
            </a:pPr>
            <a:r>
              <a:rPr sz="1600" dirty="0"/>
              <a:t>• Find category: ?</a:t>
            </a:r>
            <a:r>
              <a:rPr sz="1600" dirty="0" err="1"/>
              <a:t>categoryId</a:t>
            </a:r>
            <a:r>
              <a:rPr sz="1600" dirty="0"/>
              <a:t>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80760" y="1599014"/>
            <a:ext cx="5250714" cy="329184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559425"/>
            <a:ext cx="49469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Search endpoint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2042498"/>
            <a:ext cx="5360442" cy="32393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[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HttpGet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("search")]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public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async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Task&lt;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IActionResult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&gt; Search(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string? name, string? type, string? size,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int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?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categoryId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int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?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string?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shelfLocation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, string?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imagePath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query = _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context.Products</a:t>
            </a:r>
            <a:endParaRPr sz="1000" dirty="0">
              <a:solidFill>
                <a:srgbClr val="7EF5B1"/>
              </a:solidFill>
              <a:latin typeface="Consolas"/>
            </a:endParaRP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.Include(p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p.Warehouse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.Include(p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p.ProductCategories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ThenInclude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(pc =&gt; </a:t>
            </a:r>
            <a:r>
              <a:rPr sz="1050" dirty="0" err="1">
                <a:solidFill>
                  <a:srgbClr val="EBEBF0"/>
                </a:solidFill>
                <a:latin typeface="Consolas"/>
              </a:rPr>
              <a:t>pc.Category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AsQueryable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12  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if (!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string.IsNullOrWhiteSpace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(type))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query =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query.Where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p.Type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== type);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15  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16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if (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categoryId.HasValue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17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query =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query.Where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 =&gt;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18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p.ProductCategories.Any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(pc =&gt;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pc.CategoryId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 == </a:t>
            </a:r>
            <a:r>
              <a:rPr sz="1000" dirty="0" err="1">
                <a:solidFill>
                  <a:srgbClr val="EBEBF0"/>
                </a:solidFill>
                <a:latin typeface="Consolas"/>
              </a:rPr>
              <a:t>categoryId.Value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));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19  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20  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  return Ok(await </a:t>
            </a:r>
            <a:r>
              <a:rPr sz="1000" dirty="0" err="1">
                <a:solidFill>
                  <a:srgbClr val="7EF5B1"/>
                </a:solidFill>
                <a:latin typeface="Consolas"/>
              </a:rPr>
              <a:t>query.ToListAsync</a:t>
            </a:r>
            <a:r>
              <a:rPr sz="1000" dirty="0">
                <a:solidFill>
                  <a:srgbClr val="7EF5B1"/>
                </a:solidFill>
                <a:latin typeface="Consolas"/>
              </a:rPr>
              <a:t>());</a:t>
            </a:r>
          </a:p>
          <a:p>
            <a:pPr>
              <a:spcAft>
                <a:spcPts val="0"/>
              </a:spcAft>
              <a:defRPr sz="780">
                <a:latin typeface="Consolas"/>
              </a:defRPr>
            </a:pPr>
            <a:r>
              <a:rPr sz="1000" dirty="0">
                <a:solidFill>
                  <a:srgbClr val="878791"/>
                </a:solidFill>
                <a:latin typeface="Consolas"/>
              </a:rPr>
              <a:t>21  </a:t>
            </a:r>
            <a:r>
              <a:rPr sz="100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13. Expiration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The system warns about products that expire soon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389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1164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57" y="2546436"/>
            <a:ext cx="4370832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The API calculates today's date and one month from today.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Products with </a:t>
            </a:r>
            <a:r>
              <a:rPr sz="1600" dirty="0" err="1"/>
              <a:t>ExpirationDate</a:t>
            </a:r>
            <a:r>
              <a:rPr sz="1600" dirty="0"/>
              <a:t> inside that window are selected.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The background service checks this automatically.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The </a:t>
            </a:r>
            <a:r>
              <a:rPr sz="1600" dirty="0" err="1"/>
              <a:t>ConsoleEmailService</a:t>
            </a:r>
            <a:r>
              <a:rPr sz="1600" dirty="0"/>
              <a:t> simulates sending a warning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7673" y="1572838"/>
            <a:ext cx="5122015" cy="282358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5060" y="1539386"/>
            <a:ext cx="26379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GET /</a:t>
            </a:r>
            <a:r>
              <a:rPr sz="1400" dirty="0" err="1"/>
              <a:t>api</a:t>
            </a:r>
            <a:r>
              <a:rPr sz="1400" dirty="0"/>
              <a:t>/products/expiring-soon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7673" y="2127091"/>
            <a:ext cx="4332917" cy="31700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[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HttpGet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("expiring-soon")]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public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async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Task&lt;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IActionResult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&gt;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ExpiringSoon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()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3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today =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DateTime.Today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limitDate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today.AddMonths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(1);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6  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7  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var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products = await _</a:t>
            </a:r>
            <a:r>
              <a:rPr sz="1200" dirty="0" err="1">
                <a:solidFill>
                  <a:srgbClr val="7EF5B1"/>
                </a:solidFill>
                <a:latin typeface="Consolas"/>
              </a:rPr>
              <a:t>context.Products</a:t>
            </a:r>
            <a:endParaRPr sz="1200" dirty="0">
              <a:solidFill>
                <a:srgbClr val="7EF5B1"/>
              </a:solidFill>
              <a:latin typeface="Consolas"/>
            </a:endParaRP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.Include(p =&gt;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p.Warehouse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.Where(p =&gt;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10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400" dirty="0" err="1">
                <a:solidFill>
                  <a:srgbClr val="EBEBF0"/>
                </a:solidFill>
                <a:latin typeface="Consolas"/>
              </a:rPr>
              <a:t>p.ExpirationDate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!= null &amp;&amp;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p.ExpirationDate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&gt;= today &amp;&amp;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 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p.ExpirationDate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&lt;=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limitDate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OrderBy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(p =&gt;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p.ExpirationDate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  .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ToListAsync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15  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16  </a:t>
            </a:r>
            <a:r>
              <a:rPr sz="1200" dirty="0">
                <a:solidFill>
                  <a:srgbClr val="7EF5B1"/>
                </a:solidFill>
                <a:latin typeface="Consolas"/>
              </a:rPr>
              <a:t>  return Ok(products);</a:t>
            </a:r>
          </a:p>
          <a:p>
            <a:pPr>
              <a:spcAft>
                <a:spcPts val="0"/>
              </a:spcAft>
              <a:defRPr sz="8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17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8765" y="1767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14. Dashboard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A friendlier page for public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17320"/>
            <a:ext cx="43891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683784"/>
            <a:ext cx="21076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What the dashboard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574" y="2462959"/>
            <a:ext cx="4332425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Shows total products, warehouses, categories, and expiring products.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Displays products in a simple table.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Allows adding warehouses and categories without using Swagger.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Uses fetch() to call the same API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5532120" cy="498348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81"/>
            <a:ext cx="5326380" cy="329184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709927"/>
            <a:ext cx="14225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/>
              <a:t>wwwroot/app.js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206811"/>
            <a:ext cx="4417876" cy="31393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1  </a:t>
            </a:r>
            <a:r>
              <a:rPr sz="1200">
                <a:solidFill>
                  <a:srgbClr val="7EF5B1"/>
                </a:solidFill>
                <a:latin typeface="Consolas"/>
              </a:rPr>
              <a:t>async function loadProducts() {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2  </a:t>
            </a:r>
            <a:r>
              <a:rPr sz="1200">
                <a:solidFill>
                  <a:srgbClr val="7EF5B1"/>
                </a:solidFill>
                <a:latin typeface="Consolas"/>
              </a:rPr>
              <a:t>  const response = await fetch("/api/products");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3  </a:t>
            </a:r>
            <a:r>
              <a:rPr sz="1200">
                <a:solidFill>
                  <a:srgbClr val="7EF5B1"/>
                </a:solidFill>
                <a:latin typeface="Consolas"/>
              </a:rPr>
              <a:t>  const data = await response.json();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4  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5  </a:t>
            </a:r>
            <a:r>
              <a:rPr sz="1200">
                <a:solidFill>
                  <a:srgbClr val="EBEBF0"/>
                </a:solidFill>
                <a:latin typeface="Consolas"/>
              </a:rPr>
              <a:t>  const products = data.products || data;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6  </a:t>
            </a:r>
            <a:r>
              <a:rPr sz="1200">
                <a:solidFill>
                  <a:srgbClr val="EBEBF0"/>
                </a:solidFill>
                <a:latin typeface="Consolas"/>
              </a:rPr>
              <a:t>  document.getElementById("totalProducts")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7  </a:t>
            </a:r>
            <a:r>
              <a:rPr sz="1200">
                <a:solidFill>
                  <a:srgbClr val="EBEBF0"/>
                </a:solidFill>
                <a:latin typeface="Consolas"/>
              </a:rPr>
              <a:t>    .innerText = data.total || products.length;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8  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 9  </a:t>
            </a:r>
            <a:r>
              <a:rPr sz="1200">
                <a:solidFill>
                  <a:srgbClr val="EBEBF0"/>
                </a:solidFill>
                <a:latin typeface="Consolas"/>
              </a:rPr>
              <a:t>  products.forEach(p =&gt; {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10  </a:t>
            </a:r>
            <a:r>
              <a:rPr sz="1200">
                <a:solidFill>
                  <a:srgbClr val="EBEBF0"/>
                </a:solidFill>
                <a:latin typeface="Consolas"/>
              </a:rPr>
              <a:t>    table.innerHTML += `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11  </a:t>
            </a:r>
            <a:r>
              <a:rPr sz="1200">
                <a:solidFill>
                  <a:srgbClr val="EBEBF0"/>
                </a:solidFill>
                <a:latin typeface="Consolas"/>
              </a:rPr>
              <a:t>      &lt;tr&gt;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12  </a:t>
            </a:r>
            <a:r>
              <a:rPr sz="1200">
                <a:solidFill>
                  <a:srgbClr val="EBEBF0"/>
                </a:solidFill>
                <a:latin typeface="Consolas"/>
              </a:rPr>
              <a:t>        &lt;td&gt;${p.name}&lt;/td&gt;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13  </a:t>
            </a:r>
            <a:r>
              <a:rPr sz="1200">
                <a:solidFill>
                  <a:srgbClr val="EBEBF0"/>
                </a:solidFill>
                <a:latin typeface="Consolas"/>
              </a:rPr>
              <a:t>        &lt;td&gt;${p.type}&lt;/td&gt;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14  </a:t>
            </a:r>
            <a:r>
              <a:rPr sz="1200">
                <a:solidFill>
                  <a:srgbClr val="EBEBF0"/>
                </a:solidFill>
                <a:latin typeface="Consolas"/>
              </a:rPr>
              <a:t>        &lt;td&gt;${p.warehouseName ?? ""}&lt;/td&gt;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15  </a:t>
            </a:r>
            <a:r>
              <a:rPr sz="1200">
                <a:solidFill>
                  <a:srgbClr val="EBEBF0"/>
                </a:solidFill>
                <a:latin typeface="Consolas"/>
              </a:rPr>
              <a:t>      &lt;/tr&gt;`;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16  </a:t>
            </a:r>
            <a:r>
              <a:rPr sz="1200">
                <a:solidFill>
                  <a:srgbClr val="EBEBF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  <a:defRPr sz="810">
                <a:latin typeface="Consolas"/>
              </a:defRPr>
            </a:pPr>
            <a:r>
              <a:rPr sz="1200">
                <a:solidFill>
                  <a:srgbClr val="878791"/>
                </a:solidFill>
                <a:latin typeface="Consolas"/>
              </a:rPr>
              <a:t>17  </a:t>
            </a:r>
            <a:r>
              <a:rPr sz="120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rPr dirty="0" smtClean="0"/>
              <a:t>1</a:t>
            </a:r>
            <a:r>
              <a:rPr lang="en-US" dirty="0" smtClean="0"/>
              <a:t>4</a:t>
            </a:r>
            <a:r>
              <a:rPr dirty="0" smtClean="0"/>
              <a:t>. </a:t>
            </a:r>
            <a:r>
              <a:rPr dirty="0"/>
              <a:t>How to Use and Test the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t>Step-by-step for the final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1212" y="1435192"/>
            <a:ext cx="5288191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675100"/>
            <a:ext cx="10580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400" dirty="0"/>
              <a:t>Demo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316" y="2312477"/>
            <a:ext cx="5174887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 smtClean="0"/>
              <a:t>1</a:t>
            </a:r>
            <a:r>
              <a:rPr sz="1600" dirty="0"/>
              <a:t>. Start SQL Server and run the SQL script.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 smtClean="0"/>
              <a:t>2</a:t>
            </a:r>
            <a:r>
              <a:rPr sz="1600" dirty="0"/>
              <a:t>. Check </a:t>
            </a:r>
            <a:r>
              <a:rPr sz="1600" dirty="0" err="1"/>
              <a:t>appsettings.json</a:t>
            </a:r>
            <a:r>
              <a:rPr sz="1600" dirty="0"/>
              <a:t> connection string.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 smtClean="0"/>
              <a:t>3</a:t>
            </a:r>
            <a:r>
              <a:rPr sz="1600" dirty="0"/>
              <a:t>. Run the project using </a:t>
            </a:r>
            <a:endParaRPr lang="en-US" sz="1600" dirty="0" smtClean="0"/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29262A"/>
                </a:solidFill>
              </a:defRPr>
            </a:pPr>
            <a:r>
              <a:rPr lang="en-US" sz="1600" b="1" dirty="0" err="1"/>
              <a:t>dotnet</a:t>
            </a:r>
            <a:r>
              <a:rPr lang="en-US" sz="1600" b="1" dirty="0"/>
              <a:t> clean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29262A"/>
                </a:solidFill>
              </a:defRPr>
            </a:pPr>
            <a:r>
              <a:rPr lang="en-US" sz="1600" b="1" dirty="0" err="1"/>
              <a:t>dotnet</a:t>
            </a:r>
            <a:r>
              <a:rPr lang="en-US" sz="1600" b="1" dirty="0"/>
              <a:t> </a:t>
            </a:r>
            <a:r>
              <a:rPr lang="en-US" sz="1600" b="1" dirty="0" smtClean="0"/>
              <a:t>build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29262A"/>
                </a:solidFill>
              </a:defRPr>
            </a:pPr>
            <a:r>
              <a:rPr sz="1600" b="1" dirty="0" err="1" smtClean="0"/>
              <a:t>dotnet</a:t>
            </a:r>
            <a:r>
              <a:rPr sz="1600" b="1" dirty="0" smtClean="0"/>
              <a:t> run</a:t>
            </a:r>
            <a:endParaRPr sz="1600" b="1" dirty="0"/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 smtClean="0"/>
              <a:t>4</a:t>
            </a:r>
            <a:r>
              <a:rPr sz="1600" dirty="0"/>
              <a:t>. Open dashboard: https://localhost:5001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 smtClean="0"/>
              <a:t>5</a:t>
            </a:r>
            <a:r>
              <a:rPr sz="1600" dirty="0"/>
              <a:t>. Open Swagger: https://localhost:5001/swagger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 smtClean="0"/>
              <a:t>6</a:t>
            </a:r>
            <a:r>
              <a:rPr sz="1600" dirty="0"/>
              <a:t>. Test POST /</a:t>
            </a:r>
            <a:r>
              <a:rPr sz="1600" dirty="0" err="1"/>
              <a:t>api</a:t>
            </a:r>
            <a:r>
              <a:rPr sz="1600" dirty="0"/>
              <a:t>/products and GET /</a:t>
            </a:r>
            <a:r>
              <a:rPr sz="1600" dirty="0" err="1"/>
              <a:t>api</a:t>
            </a:r>
            <a:r>
              <a:rPr sz="1600" dirty="0"/>
              <a:t>/products/search.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417320"/>
            <a:ext cx="4663440" cy="4663440"/>
          </a:xfrm>
          <a:prstGeom prst="roundRect">
            <a:avLst/>
          </a:prstGeom>
          <a:solidFill>
            <a:srgbClr val="1F1F24"/>
          </a:solidFill>
          <a:ln>
            <a:solidFill>
              <a:srgbClr val="39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66024" y="1666182"/>
            <a:ext cx="4137167" cy="347472"/>
          </a:xfrm>
          <a:prstGeom prst="roundRect">
            <a:avLst/>
          </a:prstGeom>
          <a:solidFill>
            <a:srgbClr val="30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2680" y="1705877"/>
            <a:ext cx="4080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9DAFF"/>
                </a:solidFill>
              </a:defRPr>
            </a:pPr>
            <a:r>
              <a:rPr sz="1400" dirty="0"/>
              <a:t>Run + test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6" y="2115173"/>
            <a:ext cx="2888611" cy="32839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1 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dotnet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restore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2  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dotnet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run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3  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4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# Browser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5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https://localhost:5001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6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https://localhost:5001/swagger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7  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8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# Example request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 9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POST /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api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/products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10  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11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12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"name": "Luxury Perfume",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13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"type": "Perfume",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14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"size": "100ml",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15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"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warehouseId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": 1,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16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"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shelfLocation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": "Shelf A1",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1200" dirty="0">
                <a:solidFill>
                  <a:srgbClr val="878791"/>
                </a:solidFill>
                <a:latin typeface="Consolas"/>
              </a:rPr>
              <a:t>17  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  "</a:t>
            </a:r>
            <a:r>
              <a:rPr sz="1200" dirty="0" err="1">
                <a:solidFill>
                  <a:srgbClr val="EBEBF0"/>
                </a:solidFill>
                <a:latin typeface="Consolas"/>
              </a:rPr>
              <a:t>categoryIds</a:t>
            </a:r>
            <a:r>
              <a:rPr sz="1200" dirty="0">
                <a:solidFill>
                  <a:srgbClr val="EBEBF0"/>
                </a:solidFill>
                <a:latin typeface="Consolas"/>
              </a:rPr>
              <a:t>": [1]</a:t>
            </a:r>
          </a:p>
          <a:p>
            <a:pPr>
              <a:spcAft>
                <a:spcPts val="0"/>
              </a:spcAft>
              <a:defRPr sz="940">
                <a:latin typeface="Consolas"/>
              </a:defRPr>
            </a:pPr>
            <a:r>
              <a:rPr sz="940" dirty="0">
                <a:solidFill>
                  <a:srgbClr val="878791"/>
                </a:solidFill>
                <a:latin typeface="Consolas"/>
              </a:rPr>
              <a:t>18  </a:t>
            </a:r>
            <a:r>
              <a:rPr sz="940" dirty="0">
                <a:solidFill>
                  <a:srgbClr val="EBEBF0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E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642823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06068"/>
                </a:solidFill>
              </a:defRPr>
            </a:pPr>
            <a:r>
              <a:t>Boutique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06068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00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E1D30"/>
                </a:solidFill>
              </a:defRPr>
            </a:pPr>
            <a:r>
              <a:t>Final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6068"/>
                </a:solidFill>
              </a:defRPr>
            </a:pPr>
            <a:r>
              <a:rPr dirty="0"/>
              <a:t>What this project demonstrates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3" y="1417320"/>
            <a:ext cx="4970593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5237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0435C"/>
                </a:solidFill>
              </a:defRPr>
            </a:pPr>
            <a:r>
              <a:rPr sz="1600" dirty="0"/>
              <a:t>Implemented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330473"/>
            <a:ext cx="4879154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Multiple warehouses can be created, updated, deleted, and deactivated.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Products are stored with type, size, image path, expiration date, warehouse, and shelf location.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Categories are custom-defined and products can have multiple categories.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Search, pagination, expiration monitoring, Swagger, Postman, and dashboard UI are included.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19" y="1417320"/>
            <a:ext cx="561732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E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81912"/>
            <a:ext cx="22856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E6E50"/>
                </a:solidFill>
              </a:defRPr>
            </a:pPr>
            <a:r>
              <a:rPr sz="1600" dirty="0"/>
              <a:t>Possible future 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659977"/>
            <a:ext cx="5498452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Real email sending using SMTP instead of console simulation.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Authentication and user roles for secure access.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Real image upload and image similarity search.</a:t>
            </a:r>
          </a:p>
          <a:p>
            <a:pPr>
              <a:spcAft>
                <a:spcPts val="700"/>
              </a:spcAft>
              <a:defRPr sz="1400">
                <a:solidFill>
                  <a:srgbClr val="29262A"/>
                </a:solidFill>
              </a:defRPr>
            </a:pPr>
            <a:r>
              <a:rPr sz="1600" dirty="0"/>
              <a:t>• Mobile application consuming the same centralized API.</a:t>
            </a:r>
          </a:p>
        </p:txBody>
      </p:sp>
      <p:sp>
        <p:nvSpPr>
          <p:cNvPr id="14" name="TextBox 13"/>
          <p:cNvSpPr txBox="1"/>
          <p:nvPr/>
        </p:nvSpPr>
        <p:spPr>
          <a:xfrm rot="5400000">
            <a:off x="-2891263" y="3251676"/>
            <a:ext cx="675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19513" algn="l"/>
              </a:tabLst>
              <a:defRPr sz="2800" b="1">
                <a:solidFill>
                  <a:srgbClr val="FFFFFF"/>
                </a:solidFill>
              </a:defRPr>
            </a:pPr>
            <a:r>
              <a:rPr lang="en-US" sz="2400" b="1" dirty="0"/>
              <a:t>Boutique Inventory &amp; Warehouse Management API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2338</Words>
  <Application>Microsoft Office PowerPoint</Application>
  <PresentationFormat>Widescreen</PresentationFormat>
  <Paragraphs>385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JBOSKOVA</cp:lastModifiedBy>
  <cp:revision>14</cp:revision>
  <dcterms:created xsi:type="dcterms:W3CDTF">2013-01-27T09:14:16Z</dcterms:created>
  <dcterms:modified xsi:type="dcterms:W3CDTF">2026-05-26T10:14:07Z</dcterms:modified>
  <cp:category/>
</cp:coreProperties>
</file>